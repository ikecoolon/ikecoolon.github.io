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464" r:id="rId5"/>
    <p:sldId id="486" r:id="rId6"/>
    <p:sldId id="462" r:id="rId7"/>
    <p:sldId id="491" r:id="rId8"/>
    <p:sldId id="492" r:id="rId9"/>
    <p:sldId id="493" r:id="rId10"/>
    <p:sldId id="489" r:id="rId11"/>
    <p:sldId id="485" r:id="rId12"/>
    <p:sldId id="487" r:id="rId13"/>
    <p:sldId id="483" r:id="rId14"/>
    <p:sldId id="484" r:id="rId15"/>
    <p:sldId id="488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7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李 江荣" initials="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6D55"/>
    <a:srgbClr val="FAA41C"/>
    <a:srgbClr val="1E3159"/>
    <a:srgbClr val="294284"/>
    <a:srgbClr val="C0D9F7"/>
    <a:srgbClr val="5EA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81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102" y="678"/>
      </p:cViewPr>
      <p:guideLst>
        <p:guide orient="horz" pos="2207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5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简单介绍一下</a:t>
            </a:r>
            <a:r>
              <a:rPr lang="zh-CN" altLang="en-US"/>
              <a:t>列王纪</a:t>
            </a:r>
            <a:endParaRPr lang="zh-CN" altLang="en-US"/>
          </a:p>
          <a:p>
            <a:r>
              <a:rPr lang="zh-CN" altLang="en-US"/>
              <a:t>提到先知对君王</a:t>
            </a:r>
            <a:r>
              <a:rPr lang="zh-CN" altLang="en-US"/>
              <a:t>说话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拜访行程包含参加所罗门</a:t>
            </a:r>
            <a:r>
              <a:rPr lang="zh-CN" altLang="en-US">
                <a:sym typeface="+mn-ea"/>
              </a:rPr>
              <a:t>的献祭</a:t>
            </a:r>
            <a:r>
              <a:rPr lang="zh-CN" altLang="en-US">
                <a:sym typeface="+mn-ea"/>
              </a:rPr>
              <a:t>活动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一个智慧的人不止是自己可以独当一面，甚至是周围人的源源不断的</a:t>
            </a:r>
            <a:r>
              <a:rPr lang="zh-CN" altLang="en-US">
                <a:sym typeface="+mn-ea"/>
              </a:rPr>
              <a:t>祝福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神爱他，永远的爱他，立他做王，你觉得这些描述是从何而来</a:t>
            </a:r>
            <a:r>
              <a:rPr lang="zh-CN" altLang="en-US">
                <a:sym typeface="+mn-ea"/>
              </a:rPr>
              <a:t>的？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分享赔偿款到账的</a:t>
            </a:r>
            <a:r>
              <a:rPr lang="zh-CN" altLang="en-US">
                <a:sym typeface="+mn-ea"/>
              </a:rPr>
              <a:t>见证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七百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三百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问题：这个诱惑到底是</a:t>
            </a:r>
            <a:r>
              <a:rPr lang="zh-CN" altLang="en-US">
                <a:sym typeface="+mn-ea"/>
              </a:rPr>
              <a:t>什么？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随从神还是随从别神只能选一个，我们没发</a:t>
            </a:r>
            <a:r>
              <a:rPr lang="zh-CN" altLang="en-US">
                <a:sym typeface="+mn-ea"/>
              </a:rPr>
              <a:t>既要又要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弃绝神变得更加</a:t>
            </a:r>
            <a:r>
              <a:rPr lang="zh-CN" altLang="en-US">
                <a:sym typeface="+mn-ea"/>
              </a:rPr>
              <a:t>严重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【约壹</a:t>
            </a:r>
            <a:r>
              <a:rPr lang="en-US" altLang="zh-CN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2:16</a:t>
            </a:r>
            <a:r>
              <a:rPr lang="zh-CN" altLang="en-US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】因为凡世界上的事，就像肉体的情欲，眼目的情欲，并今生的骄傲，都不是从父来的，乃是从世界来的。</a:t>
            </a:r>
            <a:endParaRPr lang="zh-CN" altLang="en-US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r>
              <a:rPr lang="zh-CN" altLang="en-US">
                <a:sym typeface="+mn-ea"/>
              </a:rPr>
              <a:t>回答，诱惑是</a:t>
            </a:r>
            <a:r>
              <a:rPr lang="zh-CN" altLang="en-US">
                <a:sym typeface="+mn-ea"/>
              </a:rPr>
              <a:t>什么？为什么跟随神是一个需要这么多约束和限制，甚至要保持警醒、逆水行舟的事呢</a:t>
            </a:r>
            <a:r>
              <a:rPr lang="en-US" altLang="zh-CN">
                <a:sym typeface="+mn-ea"/>
              </a:rPr>
              <a:t>?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衰败是从</a:t>
            </a:r>
            <a:r>
              <a:rPr lang="en-US" altLang="zh-CN">
                <a:sym typeface="+mn-ea"/>
              </a:rPr>
              <a:t>11</a:t>
            </a:r>
            <a:r>
              <a:rPr lang="zh-CN" altLang="en-US">
                <a:sym typeface="+mn-ea"/>
              </a:rPr>
              <a:t>章开始的</a:t>
            </a:r>
            <a:r>
              <a:rPr lang="zh-CN" altLang="en-US">
                <a:sym typeface="+mn-ea"/>
              </a:rPr>
              <a:t>吗？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申命记此处是一个律法，可以理解为一个律。多立妃嫔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多积金银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666</a:t>
            </a:r>
            <a:r>
              <a:rPr lang="zh-CN" altLang="en-US">
                <a:sym typeface="+mn-ea"/>
              </a:rPr>
              <a:t>他连得黄金约</a:t>
            </a:r>
            <a:r>
              <a:rPr lang="en-US" altLang="zh-CN">
                <a:sym typeface="+mn-ea"/>
              </a:rPr>
              <a:t>22644</a:t>
            </a:r>
            <a:r>
              <a:rPr lang="zh-CN" altLang="en-US">
                <a:sym typeface="+mn-ea"/>
              </a:rPr>
              <a:t>公斤，约</a:t>
            </a:r>
            <a:r>
              <a:rPr lang="en-US" altLang="zh-CN">
                <a:sym typeface="+mn-ea"/>
              </a:rPr>
              <a:t>220</a:t>
            </a:r>
            <a:r>
              <a:rPr lang="zh-CN" altLang="en-US">
                <a:sym typeface="+mn-ea"/>
              </a:rPr>
              <a:t>亿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（【王上</a:t>
            </a:r>
            <a:r>
              <a:rPr lang="en-US" altLang="zh-CN">
                <a:sym typeface="+mn-ea"/>
              </a:rPr>
              <a:t>10:14</a:t>
            </a:r>
            <a:r>
              <a:rPr lang="zh-CN" altLang="en-US">
                <a:sym typeface="+mn-ea"/>
              </a:rPr>
              <a:t>】所罗门每年所得的金子，共有六百六十六他连得。）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120</a:t>
            </a:r>
            <a:r>
              <a:rPr lang="zh-CN" altLang="en-US">
                <a:sym typeface="+mn-ea"/>
              </a:rPr>
              <a:t>他连得黄金约</a:t>
            </a:r>
            <a:r>
              <a:rPr lang="en-US" altLang="zh-CN">
                <a:sym typeface="+mn-ea"/>
              </a:rPr>
              <a:t>4080</a:t>
            </a:r>
            <a:r>
              <a:rPr lang="zh-CN" altLang="en-US">
                <a:sym typeface="+mn-ea"/>
              </a:rPr>
              <a:t>公斤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约</a:t>
            </a:r>
            <a:r>
              <a:rPr lang="en-US" altLang="zh-CN">
                <a:sym typeface="+mn-ea"/>
              </a:rPr>
              <a:t>40</a:t>
            </a:r>
            <a:r>
              <a:rPr lang="zh-CN" altLang="en-US">
                <a:sym typeface="+mn-ea"/>
              </a:rPr>
              <a:t>亿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【王上</a:t>
            </a:r>
            <a:r>
              <a:rPr lang="en-US" altLang="zh-CN">
                <a:sym typeface="+mn-ea"/>
              </a:rPr>
              <a:t>10:10</a:t>
            </a:r>
            <a:r>
              <a:rPr lang="zh-CN" altLang="en-US">
                <a:sym typeface="+mn-ea"/>
              </a:rPr>
              <a:t>】于是，示巴女王将一百二十他连得金子</a:t>
            </a:r>
            <a:r>
              <a:rPr lang="en-US" altLang="zh-CN">
                <a:sym typeface="+mn-ea"/>
              </a:rPr>
              <a:t>...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10</a:t>
            </a:r>
            <a:r>
              <a:rPr lang="zh-CN" altLang="en-US">
                <a:sym typeface="+mn-ea"/>
              </a:rPr>
              <a:t>章</a:t>
            </a:r>
            <a:r>
              <a:rPr lang="en-US" altLang="zh-CN">
                <a:sym typeface="+mn-ea"/>
              </a:rPr>
              <a:t>21</a:t>
            </a:r>
            <a:r>
              <a:rPr lang="zh-CN" altLang="en-US">
                <a:sym typeface="+mn-ea"/>
              </a:rPr>
              <a:t>节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请一位读一下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加添马匹，分享自己收到钱</a:t>
            </a:r>
            <a:r>
              <a:rPr lang="zh-CN" altLang="en-US">
                <a:sym typeface="+mn-ea"/>
              </a:rPr>
              <a:t>后的心路历程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28-29  </a:t>
            </a:r>
            <a:r>
              <a:rPr lang="zh-CN" altLang="en-US">
                <a:sym typeface="+mn-ea"/>
              </a:rPr>
              <a:t>请一位</a:t>
            </a:r>
            <a:r>
              <a:rPr lang="zh-CN" altLang="en-US">
                <a:sym typeface="+mn-ea"/>
              </a:rPr>
              <a:t>读一下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金银、因祝福涌向他的，是中性的，</a:t>
            </a:r>
            <a:r>
              <a:rPr lang="zh-CN" altLang="en-US">
                <a:sym typeface="+mn-ea"/>
              </a:rPr>
              <a:t>所以问不是有这些，问题是红字前面的</a:t>
            </a:r>
            <a:r>
              <a:rPr lang="zh-CN" altLang="en-US">
                <a:sym typeface="+mn-ea"/>
              </a:rPr>
              <a:t>三个字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敬畏使让神掌权</a:t>
            </a:r>
            <a:r>
              <a:rPr lang="zh-CN" altLang="en-US">
                <a:sym typeface="+mn-ea"/>
              </a:rPr>
              <a:t>我们，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你的人生会经历示神的拜访，于此同时我们也会经历许多外邦人的拜访，有些是亲人有些</a:t>
            </a:r>
            <a:r>
              <a:rPr lang="zh-CN" altLang="en-US">
                <a:sym typeface="+mn-ea"/>
              </a:rPr>
              <a:t>是朋友，他们会观察你的智慧，你的治理，你的信仰，他们看到出来，你的人生到底交给谁在掌权。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虽然写的是王，王的国与家与神的国与家是一致</a:t>
            </a:r>
            <a:r>
              <a:rPr lang="zh-CN" altLang="en-US">
                <a:sym typeface="+mn-ea"/>
              </a:rPr>
              <a:t>的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AC97F-B398-494E-B100-70911D044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D9A3F-7595-4173-884E-1EF6D9A5C5D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帅线体简" panose="00020600040101010101" charset="-122"/>
          <a:ea typeface="汉仪帅线体简" panose="0002060004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548318" y="1605063"/>
            <a:ext cx="9095361" cy="364787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16330" y="2221865"/>
            <a:ext cx="9959340" cy="156845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 fontAlgn="base"/>
            <a:r>
              <a:rPr lang="zh-CN" altLang="en-US" sz="9600" dirty="0">
                <a:solidFill>
                  <a:srgbClr val="294284"/>
                </a:solidFill>
                <a:latin typeface="汉仪超粗宋简" panose="02010600000101010101" charset="-122"/>
                <a:ea typeface="汉仪超粗宋简" panose="02010600000101010101" charset="-122"/>
              </a:rPr>
              <a:t>《掌权的神》</a:t>
            </a:r>
            <a:endParaRPr lang="zh-CN" altLang="en-US" sz="9600" dirty="0">
              <a:solidFill>
                <a:srgbClr val="294284"/>
              </a:solidFill>
              <a:latin typeface="汉仪超粗宋简" panose="02010600000101010101" charset="-122"/>
              <a:ea typeface="汉仪超粗宋简" panose="0201060000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143500" y="4171514"/>
            <a:ext cx="1906270" cy="494228"/>
            <a:chOff x="8100" y="6568"/>
            <a:chExt cx="3002" cy="778"/>
          </a:xfrm>
        </p:grpSpPr>
        <p:sp>
          <p:nvSpPr>
            <p:cNvPr id="14" name="圆角矩形 13"/>
            <p:cNvSpPr/>
            <p:nvPr/>
          </p:nvSpPr>
          <p:spPr>
            <a:xfrm>
              <a:off x="8100" y="6568"/>
              <a:ext cx="3000" cy="778"/>
            </a:xfrm>
            <a:prstGeom prst="roundRect">
              <a:avLst/>
            </a:prstGeom>
            <a:solidFill>
              <a:srgbClr val="2942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102" y="6591"/>
              <a:ext cx="3000" cy="725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ctr"/>
              <a:r>
                <a:rPr lang="zh-CN" altLang="en-US" sz="2400" dirty="0" smtClean="0">
                  <a:solidFill>
                    <a:schemeClr val="bg1"/>
                  </a:solidFill>
                  <a:latin typeface="仓耳舒圆体" panose="02020400000000000000" charset="-122"/>
                  <a:ea typeface="仓耳舒圆体" panose="02020400000000000000" charset="-122"/>
                  <a:cs typeface="仓耳舒圆体" panose="02020400000000000000" charset="-122"/>
                </a:rPr>
                <a:t>王上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仓耳舒圆体" panose="02020400000000000000" charset="-122"/>
                  <a:ea typeface="仓耳舒圆体" panose="02020400000000000000" charset="-122"/>
                  <a:cs typeface="仓耳舒圆体" panose="02020400000000000000" charset="-122"/>
                </a:rPr>
                <a:t>10-11</a:t>
              </a:r>
              <a:endParaRPr lang="en-US" altLang="zh-CN" sz="2400" dirty="0" smtClean="0">
                <a:solidFill>
                  <a:schemeClr val="bg1"/>
                </a:solidFill>
                <a:latin typeface="仓耳舒圆体" panose="02020400000000000000" charset="-122"/>
                <a:ea typeface="仓耳舒圆体" panose="02020400000000000000" charset="-122"/>
                <a:cs typeface="仓耳舒圆体" panose="02020400000000000000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70" y="-7620"/>
            <a:ext cx="12263120" cy="6785610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【王上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10:1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】</a:t>
            </a:r>
            <a:r>
              <a:rPr lang="zh-CN" altLang="en-US" sz="41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示巴女王听见所罗门因耶和华之名所得的名声，就来要用难解的话试问所罗门。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【2】</a:t>
            </a:r>
            <a:r>
              <a:rPr lang="zh-CN" altLang="en-US" sz="41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跟随她到耶路撒冷的人甚多，又有骆驼驮着香料、宝石和许多金子。她来见了所罗门王，就把心里所有的对所罗门都说出来。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【3】</a:t>
            </a:r>
            <a:r>
              <a:rPr lang="zh-CN" altLang="en-US" sz="41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所罗门王将她所问的都答上了，没有一句不明白、不能答的。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【4】</a:t>
            </a:r>
            <a:r>
              <a:rPr lang="zh-CN" altLang="en-US" sz="41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示巴女王见所罗门大有智慧，和他所建造的宫室，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【5】</a:t>
            </a:r>
            <a:r>
              <a:rPr lang="zh-CN" altLang="en-US" sz="41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席上的珍馐美味，群臣分列而坐，仆人两旁侍立，以及他们的衣服装饰，和酒政的衣服装饰，又见他上耶和华殿的台阶（或作</a:t>
            </a:r>
            <a:r>
              <a:rPr lang="en-US" altLang="zh-CN" sz="41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“</a:t>
            </a:r>
            <a:r>
              <a:rPr lang="zh-CN" altLang="en-US" sz="41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他在耶和华殿里所献的燔祭</a:t>
            </a:r>
            <a:r>
              <a:rPr lang="en-US" altLang="zh-CN" sz="41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”</a:t>
            </a:r>
            <a:r>
              <a:rPr lang="zh-CN" altLang="en-US" sz="41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），就诧异得神不守</a:t>
            </a:r>
            <a:r>
              <a:rPr lang="en-US" altLang="zh-CN" sz="41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	</a:t>
            </a:r>
            <a:r>
              <a:rPr lang="zh-CN" altLang="en-US" sz="41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舍，</a:t>
            </a:r>
            <a:endParaRPr lang="zh-CN" altLang="en-US" sz="41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70" y="72390"/>
            <a:ext cx="12190730" cy="6624320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【王上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10:6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】</a:t>
            </a:r>
            <a:r>
              <a:rPr lang="zh-CN" altLang="en-US" sz="4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对王说：</a:t>
            </a:r>
            <a:r>
              <a:rPr lang="en-US" altLang="zh-CN" sz="4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“</a:t>
            </a:r>
            <a:r>
              <a:rPr lang="zh-CN" altLang="en-US" sz="4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我在本国里所听见论到你的事和你的智慧实在是真的。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【7】</a:t>
            </a:r>
            <a:r>
              <a:rPr lang="zh-CN" altLang="en-US" sz="4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我先不信那些话，及至我来亲眼见了，才知道人所告诉我的还不到一半。你的智慧和你的福分，越过我所听见的风声。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【8】</a:t>
            </a:r>
            <a:r>
              <a:rPr lang="zh-CN" altLang="en-US" sz="4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你的臣子、你的仆人常侍立在你面前听你智慧的话，是有福的。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【9】</a:t>
            </a:r>
            <a:r>
              <a:rPr lang="zh-CN" altLang="en-US" sz="4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耶和华你的　神是应当称颂的，他喜悦你，使你坐以色列的国位。因为他永远爱以色列，所以立你作王，使你秉公行义。</a:t>
            </a:r>
            <a:r>
              <a:rPr lang="en-US" altLang="zh-CN" sz="4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”</a:t>
            </a:r>
            <a:endParaRPr lang="en-US" altLang="zh-CN" sz="48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2405" y="72390"/>
            <a:ext cx="11811635" cy="6857365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ctr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965" y="72390"/>
            <a:ext cx="609600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兴盛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(10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章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1-9)</a:t>
            </a:r>
            <a:endParaRPr lang="en-US" altLang="zh-CN" sz="28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r>
              <a:rPr lang="zh-CN" altLang="en-US" sz="4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示巴女王</a:t>
            </a:r>
            <a:r>
              <a:rPr lang="zh-CN" altLang="en-US" sz="4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来访</a:t>
            </a:r>
            <a:endParaRPr lang="zh-CN" altLang="en-US" sz="48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marL="685800" indent="-685800">
              <a:buFont typeface="Arial" panose="020B0604020202090204" pitchFamily="34" charset="0"/>
              <a:buChar char="•"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marL="685800" indent="-685800">
              <a:buFont typeface="Arial" panose="020B0604020202090204" pitchFamily="34" charset="0"/>
              <a:buChar char="•"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marL="685800" indent="-685800">
              <a:buFont typeface="Arial" panose="020B0604020202090204" pitchFamily="34" charset="0"/>
              <a:buChar char="•"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marL="685800" indent="-685800">
              <a:buFont typeface="Arial" panose="020B0604020202090204" pitchFamily="34" charset="0"/>
              <a:buChar char="•"/>
            </a:pPr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marL="685800" indent="-685800">
              <a:buFont typeface="Arial" panose="020B0604020202090204" pitchFamily="34" charset="0"/>
              <a:buChar char="•"/>
            </a:pPr>
            <a:endParaRPr lang="en-US" altLang="zh-CN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</p:txBody>
      </p:sp>
      <p:pic>
        <p:nvPicPr>
          <p:cNvPr id="4" name="图片 3" descr="10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490" y="1634490"/>
            <a:ext cx="10446385" cy="52235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87240" y="527685"/>
            <a:ext cx="66116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「试探他的智慧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(1-3)</a:t>
            </a:r>
            <a:r>
              <a:rPr lang="zh-CN" altLang="en-US" sz="60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」</a:t>
            </a:r>
            <a:endParaRPr lang="zh-CN" altLang="en-US" sz="60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2405" y="72390"/>
            <a:ext cx="11811635" cy="6857365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ctr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965" y="72390"/>
            <a:ext cx="6473190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【4】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示巴女王见所罗门大有智慧，和他所建造的宫室，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【5】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席上的珍馐美味，群臣分列而坐，仆人两旁侍立，以及他们的衣服装</a:t>
            </a:r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marL="685800" indent="-685800">
              <a:buFont typeface="Arial" panose="020B0604020202090204" pitchFamily="34" charset="0"/>
              <a:buChar char="•"/>
            </a:pPr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marL="685800" indent="-685800">
              <a:buFont typeface="Arial" panose="020B0604020202090204" pitchFamily="34" charset="0"/>
              <a:buChar char="•"/>
            </a:pPr>
            <a:endParaRPr lang="en-US" altLang="zh-CN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96565" y="5777865"/>
            <a:ext cx="5144770" cy="9220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「观察他的治理」</a:t>
            </a:r>
            <a:endParaRPr lang="zh-CN" altLang="en-US" sz="28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</p:txBody>
      </p:sp>
      <p:pic>
        <p:nvPicPr>
          <p:cNvPr id="3" name="图片 2" descr="d6934fd33078a8b235da625667ad65440b30775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8765" y="0"/>
            <a:ext cx="5563235" cy="3274060"/>
          </a:xfrm>
          <a:prstGeom prst="rect">
            <a:avLst/>
          </a:prstGeom>
        </p:spPr>
      </p:pic>
      <p:pic>
        <p:nvPicPr>
          <p:cNvPr id="8" name="图片 7" descr="solomon-praying-2-1-GoodSalt-prcas26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3495" y="3374390"/>
            <a:ext cx="1655445" cy="23374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0965" y="3464560"/>
            <a:ext cx="999109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饰，和酒政的衣服装饰，又见他上耶和华殿的台阶（或作</a:t>
            </a:r>
            <a:r>
              <a:rPr lang="en-US" altLang="zh-CN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“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他在耶和华殿里所献的燔祭</a:t>
            </a:r>
            <a:r>
              <a:rPr lang="en-US" altLang="zh-CN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”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），就</a:t>
            </a:r>
            <a:r>
              <a:rPr lang="zh-CN" altLang="en-US" sz="4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诧异得神不守舍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，</a:t>
            </a:r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2405" y="72390"/>
            <a:ext cx="11811635" cy="6857365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ctr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72390"/>
            <a:ext cx="7045960" cy="68624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【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6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】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对王说：</a:t>
            </a:r>
            <a:r>
              <a:rPr lang="en-US" altLang="zh-CN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“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我在本国里所听见论到你的事和你的智慧实在是真的。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【7】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我先不信那些话，及至我来亲眼见了，才知道人所告诉我的还不到一半。你的智慧和你的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福分，越过我所听见的风声。</a:t>
            </a:r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marL="685800" indent="-685800">
              <a:buFont typeface="Arial" panose="020B0604020202090204" pitchFamily="34" charset="0"/>
              <a:buChar char="•"/>
            </a:pPr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marL="685800" indent="-685800">
              <a:buFont typeface="Arial" panose="020B0604020202090204" pitchFamily="34" charset="0"/>
              <a:buChar char="•"/>
            </a:pPr>
            <a:endParaRPr lang="en-US" altLang="zh-CN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51650" y="3133090"/>
            <a:ext cx="51447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「欣赏他的</a:t>
            </a:r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国度」</a:t>
            </a: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" y="4771390"/>
            <a:ext cx="1235329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【8】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你的臣子、你的仆人常侍立在你面前听你智慧的话，是有福的。</a:t>
            </a:r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  <p:pic>
        <p:nvPicPr>
          <p:cNvPr id="8" name="图片 7" descr="20231116-000545.111612-sm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6595" y="0"/>
            <a:ext cx="5121910" cy="2724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2405" y="72390"/>
            <a:ext cx="11811635" cy="6857365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ctr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23495" y="72390"/>
            <a:ext cx="6581140" cy="90474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【9】</a:t>
            </a:r>
            <a:r>
              <a:rPr lang="zh-CN" altLang="en-US" sz="60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耶和华你的　神是应当称颂的，他喜悦你，使你坐以色列的国位。因为</a:t>
            </a:r>
            <a:r>
              <a:rPr lang="zh-CN" altLang="en-US" sz="60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他永远爱以色列</a:t>
            </a:r>
            <a:r>
              <a:rPr lang="zh-CN" altLang="en-US" sz="60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，所以</a:t>
            </a:r>
            <a:r>
              <a:rPr lang="zh-CN" altLang="en-US" sz="60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立你作王</a:t>
            </a:r>
            <a:r>
              <a:rPr lang="zh-CN" altLang="en-US" sz="60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，使你秉公行义。</a:t>
            </a:r>
            <a:r>
              <a:rPr lang="en-US" altLang="zh-CN" sz="60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”</a:t>
            </a: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marL="685800" indent="-685800">
              <a:buFont typeface="Arial" panose="020B0604020202090204" pitchFamily="34" charset="0"/>
              <a:buChar char="•"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marL="685800" indent="-685800">
              <a:buFont typeface="Arial" panose="020B0604020202090204" pitchFamily="34" charset="0"/>
              <a:buChar char="•"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59270" y="3495040"/>
            <a:ext cx="51447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「赞美他的神」</a:t>
            </a:r>
            <a:endParaRPr lang="zh-CN" altLang="en-US" sz="5400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32675" y="4837430"/>
            <a:ext cx="59880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谁在掌权？</a:t>
            </a:r>
            <a:endParaRPr lang="zh-CN" altLang="en-US" sz="6600" dirty="0">
              <a:solidFill>
                <a:srgbClr val="FF0000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</p:txBody>
      </p:sp>
      <p:pic>
        <p:nvPicPr>
          <p:cNvPr id="8" name="图片 7" descr="20231116-000545.111612-sm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8100" y="0"/>
            <a:ext cx="5780405" cy="307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635" y="-635"/>
            <a:ext cx="7493000" cy="6653530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衰败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(11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章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)</a:t>
            </a:r>
            <a:endParaRPr lang="en-US" altLang="zh-CN" sz="28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【王上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11:1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】</a:t>
            </a:r>
            <a:r>
              <a:rPr lang="zh-CN" altLang="en-US" sz="4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所罗门王在法老的女儿之外，又宠爱许多外邦女子，就是摩押女子、亚扪女子、以东女子、西顿女子、赫人女子。</a:t>
            </a:r>
            <a:endParaRPr lang="zh-CN" altLang="en-US" sz="48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48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  <p:pic>
        <p:nvPicPr>
          <p:cNvPr id="4" name="图片 3" descr="kids-16-1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000" y="937260"/>
            <a:ext cx="4699000" cy="36468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35" y="4584065"/>
            <a:ext cx="116916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【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3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】</a:t>
            </a:r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所罗门有妃</a:t>
            </a:r>
            <a:r>
              <a:rPr lang="zh-CN" altLang="en-US" sz="5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七百</a:t>
            </a:r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，都是公主；还有嫔</a:t>
            </a:r>
            <a:r>
              <a:rPr lang="zh-CN" altLang="en-US" sz="5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三百</a:t>
            </a:r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。这些妃嫔</a:t>
            </a:r>
            <a:r>
              <a:rPr lang="zh-CN" altLang="en-US" sz="5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诱惑</a:t>
            </a:r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他的心。</a:t>
            </a: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635" y="-635"/>
            <a:ext cx="7613650" cy="6653530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衰败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(11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章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)</a:t>
            </a:r>
            <a:endParaRPr lang="en-US" altLang="zh-CN" sz="28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" y="716280"/>
            <a:ext cx="8044815" cy="5791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【王上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11:4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】</a:t>
            </a:r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所罗门年老的时候，他的妃嫔</a:t>
            </a:r>
            <a:r>
              <a:rPr lang="zh-CN" altLang="en-US" sz="5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诱惑</a:t>
            </a:r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他的心去</a:t>
            </a:r>
            <a:r>
              <a:rPr lang="zh-CN" altLang="en-US" sz="5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随从别神</a:t>
            </a:r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，不效法他父亲大卫，</a:t>
            </a:r>
            <a:r>
              <a:rPr lang="zh-CN" altLang="en-US" sz="5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诚诚实实地顺服耶和华</a:t>
            </a:r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他的　神。</a:t>
            </a:r>
            <a:r>
              <a:rPr lang="en-US" altLang="zh-CN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...</a:t>
            </a:r>
            <a:endParaRPr lang="en-US" altLang="zh-CN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【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6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】</a:t>
            </a:r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所罗门行耶和华眼中看为恶的事</a:t>
            </a:r>
            <a:r>
              <a:rPr lang="en-US" altLang="zh-CN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...</a:t>
            </a:r>
            <a:endParaRPr lang="en-US" altLang="zh-CN" sz="48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endParaRPr lang="en-US" altLang="zh-CN" sz="48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  <a:sym typeface="+mn-ea"/>
            </a:endParaRPr>
          </a:p>
        </p:txBody>
      </p:sp>
      <p:pic>
        <p:nvPicPr>
          <p:cNvPr id="6" name="图片 5" descr="Solomons-idolatry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7545" y="3770630"/>
            <a:ext cx="2492375" cy="2882265"/>
          </a:xfrm>
          <a:prstGeom prst="rect">
            <a:avLst/>
          </a:prstGeom>
        </p:spPr>
      </p:pic>
      <p:pic>
        <p:nvPicPr>
          <p:cNvPr id="7" name="图片 6" descr="Solomons-idolat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980" y="-635"/>
            <a:ext cx="3710940" cy="3710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14300" y="-635"/>
            <a:ext cx="12467590" cy="5275580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en-US" altLang="zh-CN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 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衰败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(11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章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)</a:t>
            </a:r>
            <a:endParaRPr lang="en-US" altLang="zh-CN" sz="28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【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2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】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论到这些国的人，耶和华</a:t>
            </a:r>
            <a:r>
              <a:rPr lang="zh-CN" altLang="en-US" sz="4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曾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晓谕以色列人说：</a:t>
            </a:r>
            <a:r>
              <a:rPr lang="en-US" altLang="zh-CN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“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你们不可与他们往来相通，因为他们</a:t>
            </a:r>
            <a:r>
              <a:rPr lang="zh-CN" altLang="en-US" sz="4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必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诱惑你们的心去随从他们的神。</a:t>
            </a:r>
            <a:r>
              <a:rPr lang="en-US" altLang="zh-CN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”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所罗门却</a:t>
            </a:r>
            <a:r>
              <a:rPr lang="zh-CN" altLang="en-US" sz="4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恋爱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这些女子。</a:t>
            </a:r>
            <a:endParaRPr lang="en-US" altLang="zh-CN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45720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45720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45720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457200" algn="l" fontAlgn="base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sz="40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  <p:pic>
        <p:nvPicPr>
          <p:cNvPr id="6" name="图片 5" descr="kids-16-1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4680" y="2894965"/>
            <a:ext cx="4699000" cy="36468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97865" y="3895725"/>
            <a:ext cx="6096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  <a:sym typeface="+mn-ea"/>
              </a:rPr>
              <a:t>仅因嫔妃诱惑吗？</a:t>
            </a:r>
            <a:endParaRPr lang="zh-CN" altLang="en-US" sz="5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0730" cy="3429635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ctr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【申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17:14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】</a:t>
            </a:r>
            <a:r>
              <a:rPr lang="en-US" altLang="zh-CN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“</a:t>
            </a:r>
            <a:r>
              <a:rPr lang="zh-CN" altLang="en-US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到了耶和华你　神所赐你的地，得了那地居住的时候，若说：</a:t>
            </a:r>
            <a:r>
              <a:rPr lang="en-US" altLang="zh-CN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‘</a:t>
            </a:r>
            <a:r>
              <a:rPr lang="zh-CN" altLang="en-US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我要立王治理我，像四围的国一样。</a:t>
            </a:r>
            <a:r>
              <a:rPr lang="en-US" altLang="zh-CN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’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【15</a:t>
            </a:r>
            <a:r>
              <a:rPr lang="zh-CN" altLang="en-US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】你总要立耶和华你　神所拣选的人为王，必从你弟兄中立一人，不可立你弟兄以外的人为王。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【16】</a:t>
            </a:r>
            <a:r>
              <a:rPr lang="zh-CN" altLang="en-US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只是王不可为自己加添马匹，也不可使百姓回埃及去，为要加添他的马匹，因耶和华曾吩咐你们说：</a:t>
            </a:r>
            <a:r>
              <a:rPr lang="en-US" altLang="zh-CN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‘</a:t>
            </a:r>
            <a:r>
              <a:rPr lang="zh-CN" altLang="en-US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不可再回那条路去。</a:t>
            </a:r>
            <a:r>
              <a:rPr lang="en-US" altLang="zh-CN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’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【17】</a:t>
            </a:r>
            <a:r>
              <a:rPr lang="zh-CN" altLang="en-US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他也不可为自己多立妃嫔，恐怕他的心偏邪；也不可为自己多积金银。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【18】</a:t>
            </a:r>
            <a:r>
              <a:rPr lang="zh-CN" altLang="en-US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他登了国位，就要将祭司利未人面前的这律法书，为自己抄录一本，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【19】</a:t>
            </a:r>
            <a:r>
              <a:rPr lang="zh-CN" altLang="en-US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存在他那里；要平生诵读，好学习敬畏耶和华他的　神，谨守遵行这律法书上的一切言语和这些律例，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【20】</a:t>
            </a:r>
            <a:r>
              <a:rPr lang="zh-CN" altLang="en-US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免得他向弟兄心高气傲，偏左偏右，离了这诫命。这样，他和他的子孙，便可在以色列中、在国位上年长日久。</a:t>
            </a:r>
            <a:r>
              <a:rPr lang="en-US" altLang="zh-CN" sz="36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”</a:t>
            </a:r>
            <a:endParaRPr lang="en-US" altLang="zh-CN" sz="36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9545224" y="2880676"/>
            <a:ext cx="2143324" cy="29467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FF"/>
                </a:solidFill>
                <a:latin typeface="+mn-ea"/>
                <a:cs typeface="+mn-ea"/>
              </a:rPr>
              <a:t>单击此处添加文本具体内容，简明扼要地阐述您的观点。以便观者准确地理解您传达的思想。简明扼要地阐述您的观点。</a:t>
            </a:r>
            <a:endParaRPr lang="zh-CN" altLang="en-US" sz="140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9545224" y="2010892"/>
            <a:ext cx="2143324" cy="617951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+mn-ea"/>
                <a:cs typeface="+mn-ea"/>
              </a:rPr>
              <a:t>单击添加标题</a:t>
            </a:r>
            <a:endParaRPr lang="zh-CN" altLang="en-US" sz="20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29845" y="53340"/>
            <a:ext cx="6804660" cy="7241540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ctr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16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】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只是王不可为自己</a:t>
            </a:r>
            <a:r>
              <a:rPr lang="zh-CN" altLang="en-US" sz="4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加添马匹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，也不可使百姓回埃及去，为要加添他的马匹，因耶和华曾吩咐你们说：</a:t>
            </a:r>
            <a:r>
              <a:rPr lang="en-US" altLang="zh-CN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‘</a:t>
            </a:r>
            <a:r>
              <a:rPr lang="zh-CN" altLang="en-US" sz="4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不可再回那条路去。</a:t>
            </a:r>
            <a:r>
              <a:rPr lang="en-US" altLang="zh-CN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’</a:t>
            </a:r>
            <a:endParaRPr lang="en-US" altLang="zh-CN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0" algn="l" fontAlgn="ctr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17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】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他也不可为自己</a:t>
            </a:r>
            <a:r>
              <a:rPr lang="zh-CN" altLang="en-US" sz="4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多立妃嫔</a:t>
            </a: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，恐怕他的心偏邪；</a:t>
            </a:r>
            <a:endParaRPr lang="zh-CN" altLang="en-US" sz="44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  <a:p>
            <a:pPr indent="0" algn="l" fontAlgn="ctr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44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也不可为自己</a:t>
            </a:r>
            <a:r>
              <a:rPr lang="zh-CN" altLang="en-US" sz="44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多积金银。</a:t>
            </a:r>
            <a:endParaRPr lang="zh-CN" altLang="en-US" sz="4400" dirty="0">
              <a:solidFill>
                <a:srgbClr val="FF0000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  <p:pic>
        <p:nvPicPr>
          <p:cNvPr id="4" name="图片 3" descr="kids-16-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395" y="53340"/>
            <a:ext cx="5856605" cy="3296920"/>
          </a:xfrm>
          <a:prstGeom prst="rect">
            <a:avLst/>
          </a:prstGeom>
        </p:spPr>
      </p:pic>
      <p:pic>
        <p:nvPicPr>
          <p:cNvPr id="6" name="图片 5" descr="10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760" y="3613785"/>
            <a:ext cx="5857240" cy="2928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35" y="0"/>
            <a:ext cx="12191365" cy="685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66700" dist="1016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5638" y="328440"/>
            <a:ext cx="127000" cy="8305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5400" b="1" dirty="0">
              <a:solidFill>
                <a:srgbClr val="C00000"/>
              </a:solidFill>
              <a:latin typeface="文道潮黑体" panose="02010600040101010101" charset="-122"/>
              <a:ea typeface="文道潮黑体" panose="02010600040101010101" charset="-122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9545224" y="2010892"/>
            <a:ext cx="2143324" cy="617951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+mn-ea"/>
                <a:cs typeface="+mn-ea"/>
              </a:rPr>
              <a:t>单击添加标题</a:t>
            </a:r>
            <a:endParaRPr lang="zh-CN" altLang="en-US" sz="20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29845" y="-635"/>
            <a:ext cx="7849870" cy="6858000"/>
          </a:xfrm>
          <a:prstGeom prst="rect">
            <a:avLst/>
          </a:prstGeom>
        </p:spPr>
        <p:txBody>
          <a:bodyPr wrap="square" anchor="t" anchorCtr="0">
            <a:noAutofit/>
          </a:bodyPr>
          <a:p>
            <a:pPr indent="0" algn="l" fontAlgn="ctr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</a:t>
            </a:r>
            <a:r>
              <a:rPr lang="en-US" altLang="zh-CN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18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】</a:t>
            </a:r>
            <a:r>
              <a:rPr lang="zh-CN" altLang="en-US" sz="42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他登了国位，就要将祭司利未人面前的这律法书，</a:t>
            </a:r>
            <a:r>
              <a:rPr lang="zh-CN" altLang="en-US" sz="42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为自己抄录一本</a:t>
            </a:r>
            <a:r>
              <a:rPr lang="zh-CN" altLang="en-US" sz="42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，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【19】</a:t>
            </a:r>
            <a:r>
              <a:rPr lang="zh-CN" altLang="en-US" sz="42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存在他那里；要</a:t>
            </a:r>
            <a:r>
              <a:rPr lang="zh-CN" altLang="en-US" sz="42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平生诵读</a:t>
            </a:r>
            <a:r>
              <a:rPr lang="zh-CN" altLang="en-US" sz="42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，好</a:t>
            </a:r>
            <a:r>
              <a:rPr lang="zh-CN" altLang="en-US" sz="4200" dirty="0">
                <a:solidFill>
                  <a:srgbClr val="FF0000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学习敬畏</a:t>
            </a:r>
            <a:r>
              <a:rPr lang="zh-CN" altLang="en-US" sz="42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耶和华他的　神，谨守遵行这律法书上的一切言语和这些律例，</a:t>
            </a:r>
            <a:r>
              <a:rPr lang="zh-CN" altLang="en-US" sz="28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【20】</a:t>
            </a:r>
            <a:r>
              <a:rPr lang="zh-CN" altLang="en-US" sz="42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免得他向弟兄心高气傲，偏左偏右，离了这诫命。这样，他和他的子孙，便可在以色列中、在国位上年长日久。</a:t>
            </a:r>
            <a:r>
              <a:rPr lang="en-US" altLang="zh-CN" sz="4200" dirty="0">
                <a:solidFill>
                  <a:srgbClr val="1E3159"/>
                </a:solidFill>
                <a:latin typeface="文道潮黑体" panose="02010600040101010101" charset="-122"/>
                <a:ea typeface="文道潮黑体" panose="02010600040101010101" charset="-122"/>
                <a:cs typeface="文道潮黑体" panose="02010600040101010101" charset="-122"/>
              </a:rPr>
              <a:t>”</a:t>
            </a:r>
            <a:endParaRPr lang="en-US" altLang="zh-CN" sz="4200" dirty="0">
              <a:solidFill>
                <a:srgbClr val="1E3159"/>
              </a:solidFill>
              <a:latin typeface="文道潮黑体" panose="02010600040101010101" charset="-122"/>
              <a:ea typeface="文道潮黑体" panose="02010600040101010101" charset="-122"/>
              <a:cs typeface="文道潮黑体" panose="02010600040101010101" charset="-122"/>
            </a:endParaRPr>
          </a:p>
        </p:txBody>
      </p:sp>
      <p:pic>
        <p:nvPicPr>
          <p:cNvPr id="3" name="图片 2" descr="下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255" y="328295"/>
            <a:ext cx="4309745" cy="2444115"/>
          </a:xfrm>
          <a:prstGeom prst="rect">
            <a:avLst/>
          </a:prstGeom>
        </p:spPr>
      </p:pic>
      <p:pic>
        <p:nvPicPr>
          <p:cNvPr id="4" name="图片 3" descr="03eff182-ea69-46f1-846f-4c5c0abab10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535" y="3399155"/>
            <a:ext cx="4355465" cy="3131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ISLIDE.ICON" val="#370906;#370908;#368823;#370901;"/>
</p:tagLst>
</file>

<file path=ppt/tags/tag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870_3*l_h_f*1_4_1"/>
  <p:tag name="KSO_WM_TEMPLATE_CATEGORY" val="diagram"/>
  <p:tag name="KSO_WM_TEMPLATE_INDEX" val="2023187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09.29998779296875,&quot;left&quot;:13,&quot;top&quot;:12.525006103515626,&quot;width&quot;:9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BEAUTIFY_FLAG" val="#wm#"/>
  <p:tag name="KSO_WM_UNIT_PRESET_TEXT" val="单击此处添加文本具体内容，简明扼要地阐述您的观点。以便观者准确地理解您传达的思想。简明扼要地阐述您的观点。"/>
  <p:tag name="KSO_WM_DIAGRAM_USE_COLOR_VALUE" val="{&quot;color_scheme&quot;:1,&quot;theme_color_indexes&quot;:[10,10,10,10,10,10]}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870_3*l_h_a*1_4_1"/>
  <p:tag name="KSO_WM_TEMPLATE_CATEGORY" val="diagram"/>
  <p:tag name="KSO_WM_TEMPLATE_INDEX" val="2023187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09.29998779296875,&quot;left&quot;:13,&quot;top&quot;:12.525006103515626,&quot;width&quot;:9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BEAUTIFY_FLAG" val="#wm#"/>
  <p:tag name="KSO_WM_UNIT_PRESET_TEXT" val="单击添加标题"/>
  <p:tag name="KSO_WM_DIAGRAM_USE_COLOR_VALUE" val="{&quot;color_scheme&quot;:1,&quot;theme_color_indexes&quot;:[10,10,10,10,10,10]}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870_3*l_h_a*1_4_1"/>
  <p:tag name="KSO_WM_TEMPLATE_CATEGORY" val="diagram"/>
  <p:tag name="KSO_WM_TEMPLATE_INDEX" val="2023187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09.29998779296875,&quot;left&quot;:13,&quot;top&quot;:12.525006103515626,&quot;width&quot;:9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BEAUTIFY_FLAG" val="#wm#"/>
  <p:tag name="KSO_WM_UNIT_PRESET_TEXT" val="单击添加标题"/>
  <p:tag name="KSO_WM_DIAGRAM_USE_COLOR_VALUE" val="{&quot;color_scheme&quot;:1,&quot;theme_color_indexes&quot;:[10,10,10,10,10,10]}"/>
</p:tagLst>
</file>

<file path=ppt/tags/tag5.xml><?xml version="1.0" encoding="utf-8"?>
<p:tagLst xmlns:p="http://schemas.openxmlformats.org/presentationml/2006/main">
  <p:tag name="commondata" val="eyJjb3VudCI6MjU0LCJoZGlkIjoiNDVhOTJlMGZkMDljODA1NmQ5Y2Q3YjdlMmIwNjkzMmEiLCJ1c2VyQ291bnQiOjI1NH0="/>
  <p:tag name="resource_record_key" val="{&quot;10&quot;:[3637610,3637600,3642402,20286444,21561559],&quot;70&quot;:[3402716,3426766,3322033,3321534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帅线体简"/>
        <a:ea typeface=""/>
        <a:cs typeface=""/>
        <a:font script="Jpan" typeface="游ゴシック Light"/>
        <a:font script="Hang" typeface="맑은 고딕"/>
        <a:font script="Hans" typeface="汉仪帅线体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1665</Words>
  <Application>WPS 演示</Application>
  <PresentationFormat>宽屏</PresentationFormat>
  <Paragraphs>83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汉仪帅线体简</vt:lpstr>
      <vt:lpstr>汉仪超粗宋简</vt:lpstr>
      <vt:lpstr>仓耳舒圆体</vt:lpstr>
      <vt:lpstr>文道潮黑体</vt:lpstr>
      <vt:lpstr>汉仪书宋二KW</vt:lpstr>
      <vt:lpstr>等线</vt:lpstr>
      <vt:lpstr>汉仪中等线KW</vt:lpstr>
      <vt:lpstr>微软雅黑</vt:lpstr>
      <vt:lpstr>汉仪旗黑</vt:lpstr>
      <vt:lpstr>宋体</vt:lpstr>
      <vt:lpstr>Arial Unicode MS</vt:lpstr>
      <vt:lpstr>Calibri</vt:lpstr>
      <vt:lpstr>Helvetica Neue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赵焱龙Peter</cp:lastModifiedBy>
  <cp:revision>1983</cp:revision>
  <dcterms:created xsi:type="dcterms:W3CDTF">2026-01-02T01:44:44Z</dcterms:created>
  <dcterms:modified xsi:type="dcterms:W3CDTF">2026-01-02T01:44:44Z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KSOTemplateUUID">
    <vt:lpwstr>v1.0_mb_rumRaW2QDsOwSXyFhfBA8Q==</vt:lpwstr>
  </property>
  <property fmtid="{D5CDD505-2E9C-101B-9397-08002B2CF9AE}" pid="4" name="ICV">
    <vt:lpwstr>7074FCA368A8524A0B235769B9326494_43</vt:lpwstr>
  </property>
</Properties>
</file>